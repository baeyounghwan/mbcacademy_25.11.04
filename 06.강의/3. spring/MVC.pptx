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97689-D636-466D-B140-D86E69711DBD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C4E38-5DB6-4E0A-AE70-CBCE48DD0B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839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C4E38-5DB6-4E0A-AE70-CBCE48DD0B7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855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C4E38-5DB6-4E0A-AE70-CBCE48DD0B7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336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C4E38-5DB6-4E0A-AE70-CBCE48DD0B7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028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C4E38-5DB6-4E0A-AE70-CBCE48DD0B7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584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C4E38-5DB6-4E0A-AE70-CBCE48DD0B7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098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C4E38-5DB6-4E0A-AE70-CBCE48DD0B7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606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C4E38-5DB6-4E0A-AE70-CBCE48DD0B7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180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C4E38-5DB6-4E0A-AE70-CBCE48DD0B7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217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C4E38-5DB6-4E0A-AE70-CBCE48DD0B7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49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46562BA-5519-4733-977C-750978E09569}" type="datetimeFigureOut">
              <a:rPr lang="ko-KR" altLang="en-US" smtClean="0"/>
              <a:pPr/>
              <a:t>2026-01-02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655AEA5-7647-4202-8E1D-7C1A97B468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/>
              <a:t>MVC </a:t>
            </a:r>
            <a:r>
              <a:rPr lang="ko-KR" altLang="en-US" sz="1600" dirty="0"/>
              <a:t>패턴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우선 </a:t>
            </a:r>
            <a:r>
              <a:rPr lang="en-US" sz="1600" dirty="0"/>
              <a:t>JSP </a:t>
            </a:r>
            <a:r>
              <a:rPr lang="ko-KR" altLang="en-US" sz="1600" dirty="0"/>
              <a:t>기반 웹 어플리케이션의 구조에는 </a:t>
            </a:r>
            <a:r>
              <a:rPr lang="en-US" sz="1600" dirty="0"/>
              <a:t>MVC1</a:t>
            </a:r>
            <a:r>
              <a:rPr lang="ko-KR" altLang="en-US" sz="1600" dirty="0"/>
              <a:t>패턴과 </a:t>
            </a:r>
            <a:r>
              <a:rPr lang="en-US" sz="1600" dirty="0"/>
              <a:t>MVC2</a:t>
            </a:r>
            <a:r>
              <a:rPr lang="ko-KR" altLang="en-US" sz="1600" dirty="0"/>
              <a:t>패턴 구조가 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sz="1600" dirty="0"/>
              <a:t>JSP</a:t>
            </a:r>
            <a:r>
              <a:rPr lang="ko-KR" altLang="en-US" sz="1600" dirty="0"/>
              <a:t>에서 모든 로직과 출력을 처리하느냐</a:t>
            </a:r>
            <a:r>
              <a:rPr lang="en-US" altLang="ko-KR" sz="1600" dirty="0"/>
              <a:t>, </a:t>
            </a:r>
          </a:p>
          <a:p>
            <a:pPr>
              <a:buNone/>
            </a:pPr>
            <a:r>
              <a:rPr lang="ko-KR" altLang="en-US" sz="1600" dirty="0"/>
              <a:t>아니면 </a:t>
            </a:r>
            <a:r>
              <a:rPr lang="en-US" sz="1600" dirty="0"/>
              <a:t>JSP</a:t>
            </a:r>
            <a:r>
              <a:rPr lang="ko-KR" altLang="en-US" sz="1600" dirty="0"/>
              <a:t>에서는 출력만 처리하느냐에 따라서 모델 </a:t>
            </a:r>
            <a:r>
              <a:rPr lang="en-US" altLang="ko-KR" sz="1600" dirty="0"/>
              <a:t>1</a:t>
            </a:r>
            <a:r>
              <a:rPr lang="ko-KR" altLang="en-US" sz="1600" dirty="0"/>
              <a:t>구조와 모델 </a:t>
            </a:r>
            <a:r>
              <a:rPr lang="en-US" altLang="ko-KR" sz="1600" dirty="0"/>
              <a:t>2 </a:t>
            </a:r>
            <a:r>
              <a:rPr lang="ko-KR" altLang="en-US" sz="1600" dirty="0"/>
              <a:t>구조로 구분된다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우선 모델 </a:t>
            </a:r>
            <a:r>
              <a:rPr lang="en-US" altLang="ko-KR" sz="1600" dirty="0"/>
              <a:t>1 </a:t>
            </a:r>
            <a:r>
              <a:rPr lang="ko-KR" altLang="en-US" sz="1600" dirty="0"/>
              <a:t>구조에 대해서 알아보자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altLang="ko-KR" sz="1600" dirty="0"/>
              <a:t>1). </a:t>
            </a:r>
            <a:r>
              <a:rPr lang="ko-KR" altLang="en-US" sz="1600" dirty="0"/>
              <a:t>모델 </a:t>
            </a:r>
            <a:r>
              <a:rPr lang="en-US" altLang="ko-KR" sz="1600" dirty="0"/>
              <a:t>1 </a:t>
            </a:r>
            <a:r>
              <a:rPr lang="ko-KR" altLang="en-US" sz="1600" dirty="0"/>
              <a:t>구조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altLang="ko-KR" sz="1600" dirty="0"/>
              <a:t>- </a:t>
            </a:r>
            <a:r>
              <a:rPr lang="en-US" sz="1600" dirty="0"/>
              <a:t>JSP</a:t>
            </a:r>
            <a:r>
              <a:rPr lang="ko-KR" altLang="en-US" sz="1600" dirty="0"/>
              <a:t>로 구현한 기존 웹 어플리케이션은 모델 </a:t>
            </a:r>
            <a:r>
              <a:rPr lang="en-US" altLang="ko-KR" sz="1600" dirty="0"/>
              <a:t>1 </a:t>
            </a:r>
            <a:r>
              <a:rPr lang="ko-KR" altLang="en-US" sz="1600" dirty="0"/>
              <a:t>구조로 웹 브라우저의 요청을 </a:t>
            </a:r>
            <a:endParaRPr lang="en-US" altLang="ko-KR" sz="1600" dirty="0"/>
          </a:p>
          <a:p>
            <a:pPr>
              <a:buNone/>
            </a:pPr>
            <a:r>
              <a:rPr lang="en-US" sz="1600" dirty="0"/>
              <a:t>JSP </a:t>
            </a:r>
            <a:r>
              <a:rPr lang="ko-KR" altLang="en-US" sz="1600" dirty="0"/>
              <a:t>페이지가 받아서 처리하는 구조이다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marL="109728" indent="0">
              <a:buNone/>
            </a:pPr>
            <a:endParaRPr lang="en-US" altLang="ko-KR" sz="1600" b="1" dirty="0"/>
          </a:p>
          <a:p>
            <a:pPr marL="109728" indent="0">
              <a:buNone/>
            </a:pPr>
            <a:endParaRPr lang="en-US" altLang="ko-KR" sz="1600" b="1" dirty="0"/>
          </a:p>
          <a:p>
            <a:pPr marL="109728" indent="0">
              <a:buNone/>
            </a:pPr>
            <a:br>
              <a:rPr lang="ko-KR" altLang="en-US" sz="1600" dirty="0"/>
            </a:br>
            <a:endParaRPr lang="ko-KR" altLang="en-US" sz="16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MVC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1600" dirty="0"/>
              <a:t>Model 1.</a:t>
            </a:r>
            <a:endParaRPr lang="ko-KR" altLang="en-US" sz="1600" dirty="0"/>
          </a:p>
        </p:txBody>
      </p:sp>
      <p:sp>
        <p:nvSpPr>
          <p:cNvPr id="12" name="순서도: 자기 디스크 11"/>
          <p:cNvSpPr/>
          <p:nvPr/>
        </p:nvSpPr>
        <p:spPr>
          <a:xfrm>
            <a:off x="7239989" y="2786058"/>
            <a:ext cx="1285884" cy="142876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  <a:ln w="127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MVC</a:t>
            </a:r>
            <a:endParaRPr lang="ko-KR" altLang="en-US" sz="3600" dirty="0"/>
          </a:p>
        </p:txBody>
      </p:sp>
      <p:sp>
        <p:nvSpPr>
          <p:cNvPr id="5" name="직사각형 4"/>
          <p:cNvSpPr/>
          <p:nvPr/>
        </p:nvSpPr>
        <p:spPr>
          <a:xfrm>
            <a:off x="714348" y="2786058"/>
            <a:ext cx="1857388" cy="14287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www.xxx.com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3214678" y="2786058"/>
            <a:ext cx="1357322" cy="14287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63040" y="3085927"/>
            <a:ext cx="1857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View</a:t>
            </a:r>
          </a:p>
          <a:p>
            <a:pPr algn="ctr"/>
            <a:r>
              <a:rPr lang="en-US" altLang="ko-KR" dirty="0"/>
              <a:t>(JSP)</a:t>
            </a:r>
          </a:p>
          <a:p>
            <a:pPr algn="ctr"/>
            <a:r>
              <a:rPr lang="en-US" altLang="ko-KR" dirty="0"/>
              <a:t>Controller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5218152" y="2786058"/>
            <a:ext cx="1357322" cy="14287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66514" y="3211297"/>
            <a:ext cx="185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Model</a:t>
            </a:r>
          </a:p>
          <a:p>
            <a:pPr algn="ctr"/>
            <a:r>
              <a:rPr lang="en-US" altLang="ko-KR" dirty="0"/>
              <a:t>JavaBean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957447" y="3429000"/>
            <a:ext cx="18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DataBase</a:t>
            </a:r>
            <a:endParaRPr lang="ko-KR" altLang="en-US" dirty="0"/>
          </a:p>
        </p:txBody>
      </p:sp>
      <p:cxnSp>
        <p:nvCxnSpPr>
          <p:cNvPr id="16" name="Shape 15"/>
          <p:cNvCxnSpPr>
            <a:endCxn id="6" idx="0"/>
          </p:cNvCxnSpPr>
          <p:nvPr/>
        </p:nvCxnSpPr>
        <p:spPr>
          <a:xfrm flipV="1">
            <a:off x="2571736" y="2786058"/>
            <a:ext cx="1321603" cy="285752"/>
          </a:xfrm>
          <a:prstGeom prst="bentConnector4">
            <a:avLst>
              <a:gd name="adj1" fmla="val 24324"/>
              <a:gd name="adj2" fmla="val 1799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hape 17"/>
          <p:cNvCxnSpPr>
            <a:endCxn id="7" idx="2"/>
          </p:cNvCxnSpPr>
          <p:nvPr/>
        </p:nvCxnSpPr>
        <p:spPr>
          <a:xfrm>
            <a:off x="2571736" y="3929066"/>
            <a:ext cx="1319998" cy="357190"/>
          </a:xfrm>
          <a:prstGeom prst="bentConnector4">
            <a:avLst>
              <a:gd name="adj1" fmla="val 14822"/>
              <a:gd name="adj2" fmla="val 164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4572000" y="3214686"/>
            <a:ext cx="642942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6572264" y="3214686"/>
            <a:ext cx="642942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4572000" y="3784602"/>
            <a:ext cx="642942" cy="158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6572264" y="3786190"/>
            <a:ext cx="642942" cy="158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857488" y="2202412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요청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7488" y="4550535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응답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662" y="5357826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클라이언트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429124" y="5357826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서버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/>
              <a:t>- JSP </a:t>
            </a:r>
            <a:r>
              <a:rPr lang="ko-KR" altLang="en-US" sz="1600" dirty="0"/>
              <a:t>페이지에 비즈니스 로직을 처리하기 위한 코드와 웹 브라우저에 결과를 보여주기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위한 출력 관련 코드가 섞여 있는 구조이다</a:t>
            </a:r>
            <a:r>
              <a:rPr lang="en-US" altLang="ko-KR" sz="1600" dirty="0"/>
              <a:t>. </a:t>
            </a:r>
          </a:p>
          <a:p>
            <a:pPr>
              <a:buNone/>
            </a:pP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en-US" sz="1600" dirty="0"/>
              <a:t>HoShop</a:t>
            </a:r>
            <a:r>
              <a:rPr lang="ko-KR" altLang="en-US" sz="1600" dirty="0"/>
              <a:t>과 같이 웹 브라우저의 요청이 곧바로 </a:t>
            </a:r>
            <a:r>
              <a:rPr lang="en-US" sz="1600" dirty="0"/>
              <a:t>JSP</a:t>
            </a:r>
            <a:r>
              <a:rPr lang="ko-KR" altLang="en-US" sz="1600" dirty="0"/>
              <a:t>에 전달된다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웹 브라우저의 요청을 받은 </a:t>
            </a:r>
            <a:r>
              <a:rPr lang="en-US" sz="1600" dirty="0"/>
              <a:t>JSP</a:t>
            </a:r>
            <a:r>
              <a:rPr lang="ko-KR" altLang="en-US" sz="1600" dirty="0"/>
              <a:t>는 자바빈이나 서비스 클래스를 사용해서 웹 브라우저가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요청한 작업을 처리하고 그 결과를 클라이언트에 출력해준다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sz="1600" dirty="0"/>
              <a:t>JSP </a:t>
            </a:r>
            <a:r>
              <a:rPr lang="ko-KR" altLang="en-US" sz="1600" dirty="0"/>
              <a:t>페이지에서 웹 브라우저가 요청한 것들을 처리한다는 것은 </a:t>
            </a:r>
            <a:r>
              <a:rPr lang="en-US" sz="1600" dirty="0"/>
              <a:t>JSP </a:t>
            </a:r>
            <a:r>
              <a:rPr lang="ko-KR" altLang="en-US" sz="1600" dirty="0"/>
              <a:t>페이지에 비즈니스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로직을 처리하기 위한 코드와 웹 브라우저에 결과를 보여줄 출력 관련 코드가 섞인다는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것을 의미한다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프로그래밍 수업시간에 다뤘던것처럼 하나의 </a:t>
            </a:r>
            <a:r>
              <a:rPr lang="en-US" sz="1600" dirty="0"/>
              <a:t>JSP </a:t>
            </a:r>
            <a:r>
              <a:rPr lang="ko-KR" altLang="en-US" sz="1600" dirty="0"/>
              <a:t>페이지에서 서비스 클래스를 통해서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원하는 작업을 수행하고 그 결과를 출력하는 경우가 많았는데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이것이 모델 </a:t>
            </a:r>
            <a:r>
              <a:rPr lang="en-US" altLang="ko-KR" sz="1600" dirty="0"/>
              <a:t>1 </a:t>
            </a:r>
            <a:r>
              <a:rPr lang="ko-KR" altLang="en-US" sz="1600" dirty="0"/>
              <a:t>구조의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전형적인 예이다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- </a:t>
            </a:r>
            <a:r>
              <a:rPr lang="ko-KR" altLang="en-US" sz="1600" dirty="0"/>
              <a:t>이러한 구조는 </a:t>
            </a:r>
            <a:r>
              <a:rPr lang="en-US" sz="1600" dirty="0"/>
              <a:t>JSP </a:t>
            </a:r>
            <a:r>
              <a:rPr lang="ko-KR" altLang="en-US" sz="1600" dirty="0"/>
              <a:t>페이지 안에서 모든 정보를 표현</a:t>
            </a:r>
            <a:r>
              <a:rPr lang="en-US" altLang="ko-KR" sz="1600" dirty="0"/>
              <a:t>(</a:t>
            </a:r>
            <a:r>
              <a:rPr lang="en-US" sz="1600" dirty="0"/>
              <a:t>View)</a:t>
            </a:r>
            <a:r>
              <a:rPr lang="ko-KR" altLang="en-US" sz="1600" dirty="0"/>
              <a:t>하고 저장</a:t>
            </a:r>
            <a:r>
              <a:rPr lang="en-US" altLang="ko-KR" sz="1600" dirty="0"/>
              <a:t>(</a:t>
            </a:r>
            <a:r>
              <a:rPr lang="en-US" sz="1600" dirty="0"/>
              <a:t>Model)</a:t>
            </a:r>
            <a:r>
              <a:rPr lang="ko-KR" altLang="en-US" sz="1600" dirty="0"/>
              <a:t>하고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처리</a:t>
            </a:r>
            <a:r>
              <a:rPr lang="en-US" altLang="ko-KR" sz="1600" dirty="0"/>
              <a:t>(</a:t>
            </a:r>
            <a:r>
              <a:rPr lang="en-US" sz="1600" dirty="0"/>
              <a:t>Control)</a:t>
            </a:r>
            <a:r>
              <a:rPr lang="ko-KR" altLang="en-US" sz="1600" dirty="0"/>
              <a:t>되므로 재사용이 힘들고</a:t>
            </a:r>
            <a:r>
              <a:rPr lang="en-US" altLang="ko-KR" sz="1600" dirty="0"/>
              <a:t>, </a:t>
            </a:r>
            <a:r>
              <a:rPr lang="ko-KR" altLang="en-US" sz="1600" dirty="0"/>
              <a:t>읽기도 힘들어 가독성이 떨어진다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MVC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ko-KR" altLang="en-US" sz="1600" dirty="0"/>
              <a:t>모델 </a:t>
            </a:r>
            <a:r>
              <a:rPr lang="en-US" altLang="ko-KR" sz="1600" dirty="0"/>
              <a:t>1 </a:t>
            </a:r>
            <a:r>
              <a:rPr lang="ko-KR" altLang="en-US" sz="1600" dirty="0"/>
              <a:t>구조 정리</a:t>
            </a:r>
          </a:p>
          <a:p>
            <a:pPr>
              <a:buNone/>
            </a:pPr>
            <a:r>
              <a:rPr lang="en-US" altLang="ko-KR" sz="1600" dirty="0"/>
              <a:t>- </a:t>
            </a:r>
            <a:r>
              <a:rPr lang="ko-KR" altLang="en-US" sz="1600" dirty="0"/>
              <a:t>정의 </a:t>
            </a:r>
            <a:r>
              <a:rPr lang="en-US" altLang="ko-KR" sz="1600" dirty="0"/>
              <a:t>: </a:t>
            </a:r>
            <a:r>
              <a:rPr lang="ko-KR" altLang="en-US" sz="1600" dirty="0"/>
              <a:t>모든 클라이언트 요청과 응답을 </a:t>
            </a:r>
            <a:r>
              <a:rPr lang="en-US" sz="1600" dirty="0"/>
              <a:t>JSP</a:t>
            </a:r>
            <a:r>
              <a:rPr lang="ko-KR" altLang="en-US" sz="1600" dirty="0"/>
              <a:t>가 담당하는 구조이다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단순한 페이지 작성으로 쉽게 구현 가능하다</a:t>
            </a:r>
            <a:r>
              <a:rPr lang="en-US" altLang="ko-KR" sz="1600" dirty="0"/>
              <a:t>. </a:t>
            </a:r>
            <a:r>
              <a:rPr lang="ko-KR" altLang="en-US" sz="1600" dirty="0"/>
              <a:t>중소형 프로젝트에 적합하다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웹 애플리케이션이 복잡해지면 유지보수 문제가 발생된다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MVC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1600" dirty="0"/>
              <a:t>2). </a:t>
            </a:r>
            <a:r>
              <a:rPr lang="ko-KR" altLang="en-US" sz="1600" dirty="0"/>
              <a:t>모델 </a:t>
            </a:r>
            <a:r>
              <a:rPr lang="en-US" altLang="ko-KR" sz="1600" dirty="0"/>
              <a:t>2 </a:t>
            </a:r>
            <a:r>
              <a:rPr lang="ko-KR" altLang="en-US" sz="1600" dirty="0"/>
              <a:t>구조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모델 </a:t>
            </a:r>
            <a:r>
              <a:rPr lang="en-US" altLang="ko-KR" sz="1600" dirty="0"/>
              <a:t>2 </a:t>
            </a:r>
            <a:r>
              <a:rPr lang="ko-KR" altLang="en-US" sz="1600" dirty="0"/>
              <a:t>구조는 모델 </a:t>
            </a:r>
            <a:r>
              <a:rPr lang="en-US" altLang="ko-KR" sz="1600" dirty="0"/>
              <a:t>1 </a:t>
            </a:r>
            <a:r>
              <a:rPr lang="ko-KR" altLang="en-US" sz="1600" dirty="0"/>
              <a:t>구조와 달리 웹 브라우저의 요청을 하나의 서블릿이 받게 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서블릿은 웹 브라우저의 요청을 알맞게 처리한 후 그 결과를 보여줄 </a:t>
            </a:r>
            <a:r>
              <a:rPr lang="en-US" sz="1600" dirty="0"/>
              <a:t>JSP </a:t>
            </a:r>
            <a:r>
              <a:rPr lang="ko-KR" altLang="en-US" sz="1600" dirty="0"/>
              <a:t>페이지로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포워딩한다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포워딩을 통해서 요청 흐름을 받은 </a:t>
            </a:r>
            <a:r>
              <a:rPr lang="en-US" sz="1600" dirty="0"/>
              <a:t>JSP </a:t>
            </a:r>
            <a:r>
              <a:rPr lang="ko-KR" altLang="en-US" sz="1600" dirty="0"/>
              <a:t>페이지는 결과 화면을 클라이언트에 전송한다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서블릿이 비즈니스 로직 부분을 처리하게 되는 것이다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모델 </a:t>
            </a:r>
            <a:r>
              <a:rPr lang="en-US" altLang="ko-KR" sz="1600" dirty="0"/>
              <a:t>2 </a:t>
            </a:r>
            <a:r>
              <a:rPr lang="ko-KR" altLang="en-US" sz="1600" dirty="0"/>
              <a:t>구조의 특징은 웹 브라우저의 모든 요청이 단일 진입점</a:t>
            </a:r>
            <a:r>
              <a:rPr lang="en-US" altLang="ko-KR" sz="1600" dirty="0"/>
              <a:t>, </a:t>
            </a:r>
          </a:p>
          <a:p>
            <a:pPr>
              <a:buNone/>
            </a:pPr>
            <a:r>
              <a:rPr lang="ko-KR" altLang="en-US" sz="1600" dirty="0"/>
              <a:t>즉 하나의 서블릿에서 처리된다는 점이다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하나의 서블릿이 웹 브라우저의 모든 요청을 받기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서블릿은 웹 브라우저의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요청을 구분할 수 있는 방법을 필요로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서블릿은 웹 브라우저의 요청을 처리한 후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웹 브라우저에 보여줄 </a:t>
            </a:r>
            <a:r>
              <a:rPr lang="en-US" sz="1600" dirty="0"/>
              <a:t>JSP</a:t>
            </a:r>
            <a:r>
              <a:rPr lang="ko-KR" altLang="en-US" sz="1600" dirty="0"/>
              <a:t>를 선택하게 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모델 </a:t>
            </a:r>
            <a:r>
              <a:rPr lang="en-US" altLang="ko-KR" sz="1600" dirty="0"/>
              <a:t>2 </a:t>
            </a:r>
            <a:r>
              <a:rPr lang="ko-KR" altLang="en-US" sz="1600" dirty="0"/>
              <a:t>구조의 이러한 특징 때문에 </a:t>
            </a:r>
            <a:r>
              <a:rPr lang="en-US" sz="1600" dirty="0"/>
              <a:t>MVC(Model - View - Controller)</a:t>
            </a:r>
            <a:r>
              <a:rPr lang="ko-KR" altLang="en-US" sz="1600" dirty="0"/>
              <a:t>패턴에 기반을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두어 웹 어플리케이션을 구현할 때는 모델 </a:t>
            </a:r>
            <a:r>
              <a:rPr lang="en-US" altLang="ko-KR" sz="1600" dirty="0"/>
              <a:t>2 </a:t>
            </a:r>
            <a:r>
              <a:rPr lang="ko-KR" altLang="en-US" sz="1600" dirty="0"/>
              <a:t>구조를 주로 사용한다</a:t>
            </a:r>
            <a:r>
              <a:rPr lang="en-US" altLang="ko-KR" sz="1600" dirty="0"/>
              <a:t>. 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MVC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059833" y="1285860"/>
            <a:ext cx="3764069" cy="4786346"/>
          </a:xfrm>
          <a:prstGeom prst="rect">
            <a:avLst/>
          </a:prstGeom>
          <a:noFill/>
          <a:ln w="127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1600" dirty="0"/>
              <a:t>Model 2.</a:t>
            </a:r>
            <a:endParaRPr lang="ko-KR" altLang="en-US" sz="1600" dirty="0"/>
          </a:p>
        </p:txBody>
      </p:sp>
      <p:sp>
        <p:nvSpPr>
          <p:cNvPr id="12" name="순서도: 자기 디스크 11"/>
          <p:cNvSpPr/>
          <p:nvPr/>
        </p:nvSpPr>
        <p:spPr>
          <a:xfrm>
            <a:off x="7239989" y="2155258"/>
            <a:ext cx="1285884" cy="1428760"/>
          </a:xfrm>
          <a:prstGeom prst="flowChartMagneticDisk">
            <a:avLst/>
          </a:prstGeom>
          <a:solidFill>
            <a:schemeClr val="accent5">
              <a:lumMod val="40000"/>
              <a:lumOff val="60000"/>
            </a:schemeClr>
          </a:solidFill>
          <a:ln w="127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MVC</a:t>
            </a:r>
            <a:endParaRPr lang="ko-KR" altLang="en-US" sz="3600" dirty="0"/>
          </a:p>
        </p:txBody>
      </p:sp>
      <p:sp>
        <p:nvSpPr>
          <p:cNvPr id="5" name="직사각형 4"/>
          <p:cNvSpPr/>
          <p:nvPr/>
        </p:nvSpPr>
        <p:spPr>
          <a:xfrm>
            <a:off x="714348" y="3143248"/>
            <a:ext cx="1857388" cy="14287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www.xxx.com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3214678" y="2285992"/>
            <a:ext cx="1357322" cy="1298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63040" y="2371547"/>
            <a:ext cx="1857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Controller</a:t>
            </a:r>
          </a:p>
          <a:p>
            <a:pPr algn="ctr"/>
            <a:r>
              <a:rPr lang="en-US" altLang="ko-KR" dirty="0"/>
              <a:t>(Servlet)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5218152" y="2155258"/>
            <a:ext cx="1357322" cy="14287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66514" y="2580497"/>
            <a:ext cx="185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Model</a:t>
            </a:r>
          </a:p>
          <a:p>
            <a:pPr algn="ctr"/>
            <a:r>
              <a:rPr lang="en-US" altLang="ko-KR" dirty="0"/>
              <a:t>JavaBean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957447" y="2798200"/>
            <a:ext cx="18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DataBase</a:t>
            </a:r>
            <a:endParaRPr lang="ko-KR" altLang="en-US" dirty="0"/>
          </a:p>
        </p:txBody>
      </p:sp>
      <p:cxnSp>
        <p:nvCxnSpPr>
          <p:cNvPr id="16" name="Shape 15"/>
          <p:cNvCxnSpPr>
            <a:endCxn id="6" idx="0"/>
          </p:cNvCxnSpPr>
          <p:nvPr/>
        </p:nvCxnSpPr>
        <p:spPr>
          <a:xfrm flipV="1">
            <a:off x="2571736" y="2285992"/>
            <a:ext cx="1321603" cy="1000132"/>
          </a:xfrm>
          <a:prstGeom prst="bentConnector4">
            <a:avLst>
              <a:gd name="adj1" fmla="val 24324"/>
              <a:gd name="adj2" fmla="val 1228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hape 17"/>
          <p:cNvCxnSpPr>
            <a:endCxn id="31" idx="2"/>
          </p:cNvCxnSpPr>
          <p:nvPr/>
        </p:nvCxnSpPr>
        <p:spPr>
          <a:xfrm>
            <a:off x="2571736" y="4391808"/>
            <a:ext cx="1329329" cy="928694"/>
          </a:xfrm>
          <a:prstGeom prst="bentConnector4">
            <a:avLst>
              <a:gd name="adj1" fmla="val 15069"/>
              <a:gd name="adj2" fmla="val 1246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4572000" y="2583886"/>
            <a:ext cx="642942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6572264" y="2583886"/>
            <a:ext cx="642942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4572000" y="3153802"/>
            <a:ext cx="642942" cy="158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6572264" y="3155390"/>
            <a:ext cx="642942" cy="158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857488" y="1571612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요청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7488" y="5702874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응답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098" y="5579948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클라이언트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732546" y="5579948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서버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3224009" y="4059800"/>
            <a:ext cx="1357322" cy="1298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972371" y="4120173"/>
            <a:ext cx="1857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View</a:t>
            </a:r>
          </a:p>
          <a:p>
            <a:pPr algn="ctr"/>
            <a:r>
              <a:rPr lang="en-US" altLang="ko-KR" dirty="0"/>
              <a:t>(JSP)</a:t>
            </a:r>
            <a:endParaRPr lang="ko-KR" altLang="en-US" dirty="0"/>
          </a:p>
          <a:p>
            <a:endParaRPr lang="ko-KR" altLang="en-US" dirty="0"/>
          </a:p>
        </p:txBody>
      </p:sp>
      <p:cxnSp>
        <p:nvCxnSpPr>
          <p:cNvPr id="35" name="직선 화살표 연결선 34"/>
          <p:cNvCxnSpPr/>
          <p:nvPr/>
        </p:nvCxnSpPr>
        <p:spPr>
          <a:xfrm rot="5400000" flipH="1" flipV="1">
            <a:off x="3715538" y="3804058"/>
            <a:ext cx="428628" cy="158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1600" dirty="0"/>
              <a:t>- </a:t>
            </a:r>
            <a:r>
              <a:rPr lang="ko-KR" altLang="en-US" sz="1600" dirty="0"/>
              <a:t>모델 </a:t>
            </a:r>
            <a:r>
              <a:rPr lang="en-US" altLang="ko-KR" sz="1600" dirty="0"/>
              <a:t>1</a:t>
            </a:r>
            <a:r>
              <a:rPr lang="ko-KR" altLang="en-US" sz="1600" dirty="0"/>
              <a:t>은 컨트롤러가 모델이나 뷰를 포함한 </a:t>
            </a:r>
            <a:r>
              <a:rPr lang="en-US" sz="1600" dirty="0"/>
              <a:t>MV </a:t>
            </a:r>
            <a:r>
              <a:rPr lang="ko-KR" altLang="en-US" sz="1600" dirty="0"/>
              <a:t>형태를 띄고 있고</a:t>
            </a:r>
            <a:r>
              <a:rPr lang="en-US" altLang="ko-KR" sz="1600" dirty="0"/>
              <a:t>, </a:t>
            </a:r>
          </a:p>
          <a:p>
            <a:pPr>
              <a:buNone/>
            </a:pPr>
            <a:r>
              <a:rPr lang="ko-KR" altLang="en-US" sz="1600" dirty="0"/>
              <a:t>모델 </a:t>
            </a:r>
            <a:r>
              <a:rPr lang="en-US" altLang="ko-KR" sz="1600" dirty="0"/>
              <a:t>2</a:t>
            </a:r>
            <a:r>
              <a:rPr lang="ko-KR" altLang="en-US" sz="1600" dirty="0"/>
              <a:t>는 완전한 </a:t>
            </a:r>
            <a:r>
              <a:rPr lang="en-US" sz="1600" dirty="0"/>
              <a:t>MVC </a:t>
            </a:r>
            <a:r>
              <a:rPr lang="ko-KR" altLang="en-US" sz="1600" dirty="0"/>
              <a:t>형태를 적용하고 있다고 볼 수 있다</a:t>
            </a:r>
            <a:r>
              <a:rPr lang="en-US" altLang="ko-KR" sz="1600" dirty="0"/>
              <a:t>.</a:t>
            </a:r>
            <a:br>
              <a:rPr lang="ko-KR" altLang="en-US" sz="1600" dirty="0"/>
            </a:br>
            <a:endParaRPr lang="ko-KR" altLang="en-US" sz="1600" dirty="0"/>
          </a:p>
          <a:p>
            <a:pPr>
              <a:buNone/>
            </a:pPr>
            <a:r>
              <a:rPr lang="ko-KR" altLang="en-US" sz="1600" dirty="0"/>
              <a:t>모델 </a:t>
            </a:r>
            <a:r>
              <a:rPr lang="en-US" altLang="ko-KR" sz="1600" dirty="0"/>
              <a:t>2 </a:t>
            </a:r>
            <a:r>
              <a:rPr lang="ko-KR" altLang="en-US" sz="1600" dirty="0"/>
              <a:t>구조 정리 </a:t>
            </a: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-  </a:t>
            </a:r>
            <a:r>
              <a:rPr lang="ko-KR" altLang="en-US" sz="1600" dirty="0"/>
              <a:t>정의 </a:t>
            </a:r>
            <a:r>
              <a:rPr lang="en-US" altLang="ko-KR" sz="1600" dirty="0"/>
              <a:t>: </a:t>
            </a:r>
            <a:r>
              <a:rPr lang="ko-KR" altLang="en-US" sz="1600" dirty="0"/>
              <a:t>클라이언트의 요청처리와 응답처리</a:t>
            </a:r>
            <a:r>
              <a:rPr lang="en-US" altLang="ko-KR" sz="1600" dirty="0"/>
              <a:t>, </a:t>
            </a:r>
            <a:r>
              <a:rPr lang="ko-KR" altLang="en-US" sz="1600" dirty="0"/>
              <a:t>비즈니스 로직 처리하는 부분을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모듈화시킨 구조이다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처리작업의 분리로 인해 유지보수와 확장이 용이하다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구조 설계를 위한 시간이 많이 소요되므로 개발 기간이 증가한다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MVC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/>
              <a:t>3). MVC </a:t>
            </a:r>
            <a:r>
              <a:rPr lang="ko-KR" altLang="en-US" sz="1600" dirty="0"/>
              <a:t>패턴</a:t>
            </a:r>
          </a:p>
          <a:p>
            <a:pPr>
              <a:buNone/>
            </a:pPr>
            <a:r>
              <a:rPr lang="ko-KR" altLang="en-US" sz="1600" dirty="0"/>
              <a:t>모델</a:t>
            </a:r>
            <a:r>
              <a:rPr lang="en-US" altLang="ko-KR" sz="1600" dirty="0"/>
              <a:t>(</a:t>
            </a:r>
            <a:r>
              <a:rPr lang="en-US" sz="1600" dirty="0"/>
              <a:t>Model) : </a:t>
            </a:r>
            <a:r>
              <a:rPr lang="ko-KR" altLang="en-US" sz="1600" dirty="0"/>
              <a:t>페이지의 이동간에 파라미터나 값들을 넘겨줄때 이러한 값들을 담은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인스턴스를 의미한다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뷰</a:t>
            </a:r>
            <a:r>
              <a:rPr lang="en-US" altLang="ko-KR" sz="1600" dirty="0"/>
              <a:t>(</a:t>
            </a:r>
            <a:r>
              <a:rPr lang="en-US" sz="1600" dirty="0"/>
              <a:t>View) : </a:t>
            </a:r>
            <a:r>
              <a:rPr lang="ko-KR" altLang="en-US" sz="1600" dirty="0"/>
              <a:t>비즈니스 영역에 대한 프레젠테이션 뷰</a:t>
            </a:r>
            <a:r>
              <a:rPr lang="en-US" altLang="ko-KR" sz="1600" dirty="0"/>
              <a:t>(</a:t>
            </a: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사용자가 보게 될 결과 화면</a:t>
            </a:r>
            <a:r>
              <a:rPr lang="en-US" altLang="ko-KR" sz="1600" dirty="0"/>
              <a:t>)</a:t>
            </a:r>
            <a:r>
              <a:rPr lang="ko-KR" altLang="en-US" sz="1600" dirty="0"/>
              <a:t>를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담당한다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컨트롤러</a:t>
            </a:r>
            <a:r>
              <a:rPr lang="en-US" altLang="ko-KR" sz="1600" dirty="0"/>
              <a:t>(</a:t>
            </a:r>
            <a:r>
              <a:rPr lang="en-US" sz="1600" dirty="0"/>
              <a:t>Controller) : </a:t>
            </a:r>
            <a:r>
              <a:rPr lang="ko-KR" altLang="en-US" sz="1600" dirty="0"/>
              <a:t>사용자의 입력 및 흐름 제어를 담당한다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사용자는 원하는 기능을 처리하기 위한 모든 요청을 단일 컨트롤러에 보낸다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모델은 비즈니스와 관련된 상태 정보 및 관련 기능을 제공하는데</a:t>
            </a:r>
            <a:r>
              <a:rPr lang="en-US" altLang="ko-KR" sz="1600" dirty="0"/>
              <a:t>, </a:t>
            </a:r>
          </a:p>
          <a:p>
            <a:pPr>
              <a:buNone/>
            </a:pPr>
            <a:r>
              <a:rPr lang="ko-KR" altLang="en-US" sz="1600" dirty="0"/>
              <a:t>컨트롤러는 이 모델을 통해서 사용자의 요청을 처리한다</a:t>
            </a:r>
            <a:r>
              <a:rPr lang="en-US" altLang="ko-KR" sz="1600" dirty="0"/>
              <a:t>. </a:t>
            </a:r>
          </a:p>
          <a:p>
            <a:pPr>
              <a:buNone/>
            </a:pPr>
            <a:r>
              <a:rPr lang="ko-KR" altLang="en-US" sz="1600" dirty="0"/>
              <a:t>모델을 사용하여 알맞은 비즈니스 로직을 수행한 후 컨트롤러는 사용자에게 보여줄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뷰를 선택하며</a:t>
            </a:r>
            <a:r>
              <a:rPr lang="en-US" altLang="ko-KR" sz="1600" dirty="0"/>
              <a:t>, </a:t>
            </a:r>
            <a:r>
              <a:rPr lang="ko-KR" altLang="en-US" sz="1600" dirty="0"/>
              <a:t>선택된 뷰는 사용자에게 알맞은 결과 화면을 보여준다</a:t>
            </a:r>
            <a:r>
              <a:rPr lang="en-US" altLang="ko-KR" sz="1600" dirty="0"/>
              <a:t>. </a:t>
            </a:r>
          </a:p>
          <a:p>
            <a:pPr>
              <a:buNone/>
            </a:pPr>
            <a:r>
              <a:rPr lang="ko-KR" altLang="en-US" sz="1600" dirty="0"/>
              <a:t>뷰가 사용자에게 결과 화면을 보여줄 때에는 결과 정보가 필요한데</a:t>
            </a:r>
            <a:r>
              <a:rPr lang="en-US" altLang="ko-KR" sz="1600" dirty="0"/>
              <a:t>, </a:t>
            </a:r>
          </a:p>
          <a:p>
            <a:pPr>
              <a:buNone/>
            </a:pPr>
            <a:r>
              <a:rPr lang="ko-KR" altLang="en-US" sz="1600" dirty="0"/>
              <a:t>컨트롤러가 이 정보를 뷰에 전달해 준다</a:t>
            </a:r>
            <a:r>
              <a:rPr lang="en-US" altLang="ko-KR" sz="1600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MVC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/>
              <a:t>MVC </a:t>
            </a:r>
            <a:r>
              <a:rPr lang="ko-KR" altLang="en-US" sz="1600" dirty="0"/>
              <a:t>패턴의 핵심은 다음과 같다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-</a:t>
            </a:r>
            <a:r>
              <a:rPr lang="ko-KR" altLang="en-US" sz="1600" dirty="0"/>
              <a:t>비즈니스 로직을 처리하는 모델과 결과 화면을 보여주는 뷰가 분리되어 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altLang="ko-KR" sz="1600" dirty="0"/>
              <a:t>-</a:t>
            </a:r>
            <a:r>
              <a:rPr lang="ko-KR" altLang="en-US" sz="1600" dirty="0"/>
              <a:t>어플리케이션의 흐름 제어나 사용자의 처리 요청은 컨트롤러에 집중된다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ko-KR" altLang="en-US" sz="1600" dirty="0"/>
              <a:t>모델은 오직 비즈니스와 관련된 부분을 처리하면 될 뿐 사용자에게 보여줄 화면이나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흐름 제어에 대해서는 처리할 필요가 없다</a:t>
            </a:r>
            <a:r>
              <a:rPr lang="en-US" altLang="ko-KR" sz="1600" dirty="0"/>
              <a:t>. </a:t>
            </a:r>
          </a:p>
          <a:p>
            <a:pPr>
              <a:buNone/>
            </a:pPr>
            <a:r>
              <a:rPr lang="ko-KR" altLang="en-US" sz="1600" dirty="0"/>
              <a:t>반대로 뷰는 사용자에게 알맞은 화면을 보여주는 역할만 수행하면 될 뿐</a:t>
            </a:r>
            <a:r>
              <a:rPr lang="en-US" altLang="ko-KR" sz="1600" dirty="0"/>
              <a:t>, </a:t>
            </a:r>
          </a:p>
          <a:p>
            <a:pPr>
              <a:buNone/>
            </a:pPr>
            <a:r>
              <a:rPr lang="ko-KR" altLang="en-US" sz="1600" dirty="0"/>
              <a:t>비즈니스 로직이나 흐름 제어 등을 신경 쓸 필요가 없다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이렇게 모델과 뷰가 분리되어 있기 때문에 모델의 내부 로직이 변경된다 하더라도 뷰는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영향을 받지 않으며</a:t>
            </a:r>
            <a:r>
              <a:rPr lang="en-US" altLang="ko-KR" sz="1600" dirty="0"/>
              <a:t>, </a:t>
            </a:r>
            <a:r>
              <a:rPr lang="ko-KR" altLang="en-US" sz="1600" dirty="0"/>
              <a:t>뷰와 모델이 결합되어 있지 않기 때문에 뷰를 어렵지 않게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변경할 수 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또한</a:t>
            </a:r>
            <a:r>
              <a:rPr lang="en-US" altLang="ko-KR" sz="1600" dirty="0"/>
              <a:t>, </a:t>
            </a:r>
            <a:r>
              <a:rPr lang="ko-KR" altLang="en-US" sz="1600" dirty="0"/>
              <a:t>컨트롤러는 사용자의 요청에 대해서 알맞은 모델을 사용하고 사용자에게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보여줄 뷰를 선택하기만 하면 된다</a:t>
            </a:r>
            <a:r>
              <a:rPr lang="en-US" altLang="ko-KR" sz="1600" dirty="0"/>
              <a:t>. 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MVC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ko-KR" altLang="en-US" sz="1600" dirty="0"/>
              <a:t>만약 컨트롤러나 모델에 상관없이 새로운 뷰를 추가해 주면 된다</a:t>
            </a:r>
            <a:r>
              <a:rPr lang="en-US" altLang="ko-KR" sz="1600" dirty="0"/>
              <a:t>. </a:t>
            </a:r>
          </a:p>
          <a:p>
            <a:pPr>
              <a:buNone/>
            </a:pPr>
            <a:r>
              <a:rPr lang="ko-KR" altLang="en-US" sz="1600" dirty="0"/>
              <a:t>즉</a:t>
            </a:r>
            <a:r>
              <a:rPr lang="en-US" altLang="ko-KR" sz="1600" dirty="0"/>
              <a:t>, </a:t>
            </a:r>
            <a:r>
              <a:rPr lang="en-US" sz="1600" dirty="0"/>
              <a:t>MVC </a:t>
            </a:r>
            <a:r>
              <a:rPr lang="ko-KR" altLang="en-US" sz="1600" dirty="0"/>
              <a:t>패턴을 사용함으로써 유지 보수 작업이 간단해지고 어플리케이션을 쉽게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확장할 수 있게 되는 것이다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정리를하자면</a:t>
            </a:r>
            <a:r>
              <a:rPr lang="en-US" altLang="ko-KR" sz="1600" dirty="0"/>
              <a:t>, </a:t>
            </a:r>
            <a:r>
              <a:rPr lang="ko-KR" altLang="en-US" sz="1600" dirty="0"/>
              <a:t>모델 </a:t>
            </a:r>
            <a:r>
              <a:rPr lang="en-US" altLang="ko-KR" sz="1600" dirty="0"/>
              <a:t>2 </a:t>
            </a:r>
            <a:r>
              <a:rPr lang="ko-KR" altLang="en-US" sz="1600" dirty="0"/>
              <a:t>구조에서 서블릿은 </a:t>
            </a:r>
            <a:r>
              <a:rPr lang="en-US" sz="1600" dirty="0"/>
              <a:t>MVC </a:t>
            </a:r>
            <a:r>
              <a:rPr lang="ko-KR" altLang="en-US" sz="1600" dirty="0"/>
              <a:t>패턴의 컨트롤러 역할을 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>
              <a:buNone/>
            </a:pPr>
            <a:r>
              <a:rPr lang="ko-KR" altLang="en-US" sz="1600" dirty="0"/>
              <a:t>서블릿은 웹 브라우저의 요청과 웹 어플리케이션의 전체적인 흐름을 제어하게 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ko-KR" altLang="en-US" sz="1600" dirty="0"/>
              <a:t>또한 모델 </a:t>
            </a:r>
            <a:r>
              <a:rPr lang="en-US" altLang="ko-KR" sz="1600" dirty="0"/>
              <a:t>2 </a:t>
            </a:r>
            <a:r>
              <a:rPr lang="ko-KR" altLang="en-US" sz="1600" dirty="0"/>
              <a:t>구조에서 </a:t>
            </a:r>
            <a:r>
              <a:rPr lang="en-US" sz="1600" dirty="0"/>
              <a:t>JSP</a:t>
            </a:r>
            <a:r>
              <a:rPr lang="ko-KR" altLang="en-US" sz="1600" dirty="0"/>
              <a:t>는 뷰의 역할을 담당한다</a:t>
            </a:r>
            <a:r>
              <a:rPr lang="en-US" altLang="ko-KR" sz="1600" dirty="0"/>
              <a:t>. </a:t>
            </a:r>
            <a:r>
              <a:rPr lang="ko-KR" altLang="en-US" sz="1600" dirty="0"/>
              <a:t>비즈니스 로직과 관련된 코드가 </a:t>
            </a:r>
            <a:endParaRPr lang="en-US" altLang="ko-KR" sz="1600" dirty="0"/>
          </a:p>
          <a:p>
            <a:pPr>
              <a:buNone/>
            </a:pPr>
            <a:r>
              <a:rPr lang="ko-KR" altLang="en-US" sz="1600" dirty="0"/>
              <a:t>없는 점을 제외하면 일반 </a:t>
            </a:r>
            <a:r>
              <a:rPr lang="en-US" sz="1600" dirty="0"/>
              <a:t>JSP</a:t>
            </a:r>
            <a:r>
              <a:rPr lang="ko-KR" altLang="en-US" sz="1600" dirty="0"/>
              <a:t>와 거의 동일한 형태를 취한다는 것이다</a:t>
            </a:r>
            <a:r>
              <a:rPr lang="en-US" altLang="ko-KR" sz="1600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MVC</a:t>
            </a:r>
            <a:endParaRPr lang="ko-KR" altLang="en-US" sz="36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903</TotalTime>
  <Words>824</Words>
  <Application>Microsoft Office PowerPoint</Application>
  <PresentationFormat>화면 슬라이드 쇼(4:3)</PresentationFormat>
  <Paragraphs>137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Lucida Sans Unicode</vt:lpstr>
      <vt:lpstr>Verdana</vt:lpstr>
      <vt:lpstr>Wingdings 2</vt:lpstr>
      <vt:lpstr>Wingdings 3</vt:lpstr>
      <vt:lpstr>광장</vt:lpstr>
      <vt:lpstr>MVC</vt:lpstr>
      <vt:lpstr>MVC</vt:lpstr>
      <vt:lpstr>MVC</vt:lpstr>
      <vt:lpstr>MVC</vt:lpstr>
      <vt:lpstr>MVC</vt:lpstr>
      <vt:lpstr>MVC</vt:lpstr>
      <vt:lpstr>MVC</vt:lpstr>
      <vt:lpstr>MVC</vt:lpstr>
      <vt:lpstr>MVC</vt:lpstr>
      <vt:lpstr>MVC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dbs</dc:creator>
  <cp:lastModifiedBy>User</cp:lastModifiedBy>
  <cp:revision>73</cp:revision>
  <dcterms:created xsi:type="dcterms:W3CDTF">2015-05-26T08:56:53Z</dcterms:created>
  <dcterms:modified xsi:type="dcterms:W3CDTF">2026-01-02T00:13:30Z</dcterms:modified>
</cp:coreProperties>
</file>